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e7620e79c414c" /><Relationship Type="http://schemas.openxmlformats.org/officeDocument/2006/relationships/extended-properties" Target="/docProps/app.xml" Id="R5168a124350748bd" /><Relationship Type="http://schemas.openxmlformats.org/officeDocument/2006/relationships/officeDocument" Target="/ppt/presentation.xml" Id="R4d533c5adf07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f46b2d5c374409"/>
  </p:sldMasterIdLst>
  <p:notesMasterIdLst>
    <p:notesMasterId xmlns:r="http://schemas.openxmlformats.org/officeDocument/2006/relationships" r:id="Rac7ebf41fe2d4245"/>
  </p:notesMasterIdLst>
  <p:sldIdLst>
    <p:sldId xmlns:r="http://schemas.openxmlformats.org/officeDocument/2006/relationships" id="256" r:id="Re716e4c7facf4ae1"/>
    <p:sldId xmlns:r="http://schemas.openxmlformats.org/officeDocument/2006/relationships" id="257" r:id="Rd76e36173abb4e17"/>
    <p:sldId xmlns:r="http://schemas.openxmlformats.org/officeDocument/2006/relationships" id="258" r:id="Rde78fbefa3c84b47"/>
    <p:sldId xmlns:r="http://schemas.openxmlformats.org/officeDocument/2006/relationships" id="259" r:id="R9197c559720e4e4c"/>
    <p:sldId xmlns:r="http://schemas.openxmlformats.org/officeDocument/2006/relationships" id="260" r:id="Rba33eb0234ba4d8e"/>
    <p:sldId xmlns:r="http://schemas.openxmlformats.org/officeDocument/2006/relationships" id="261" r:id="R16356e86b4d94316"/>
    <p:sldId xmlns:r="http://schemas.openxmlformats.org/officeDocument/2006/relationships" id="262" r:id="Ra9af94c262994b85"/>
    <p:sldId xmlns:r="http://schemas.openxmlformats.org/officeDocument/2006/relationships" id="263" r:id="R00d939be0a9e4e61"/>
    <p:sldId xmlns:r="http://schemas.openxmlformats.org/officeDocument/2006/relationships" id="264" r:id="Re71a1ca276224271"/>
    <p:sldId xmlns:r="http://schemas.openxmlformats.org/officeDocument/2006/relationships" id="265" r:id="Rafd3b1c55c46426f"/>
    <p:sldId xmlns:r="http://schemas.openxmlformats.org/officeDocument/2006/relationships" id="266" r:id="Rb50bbc88e37e4c2b"/>
    <p:sldId xmlns:r="http://schemas.openxmlformats.org/officeDocument/2006/relationships" id="267" r:id="R1a82369a5b4e4bf6"/>
    <p:sldId xmlns:r="http://schemas.openxmlformats.org/officeDocument/2006/relationships" id="268" r:id="Red31a3f1a14a42c6"/>
    <p:sldId xmlns:r="http://schemas.openxmlformats.org/officeDocument/2006/relationships" id="269" r:id="Refac365c70684684"/>
    <p:sldId xmlns:r="http://schemas.openxmlformats.org/officeDocument/2006/relationships" id="270" r:id="R660b94aa3e7a4119"/>
    <p:sldId xmlns:r="http://schemas.openxmlformats.org/officeDocument/2006/relationships" id="271" r:id="Ra40f3570c54c4ac8"/>
    <p:sldId xmlns:r="http://schemas.openxmlformats.org/officeDocument/2006/relationships" id="272" r:id="Rb92aac9a0bf94650"/>
    <p:sldId xmlns:r="http://schemas.openxmlformats.org/officeDocument/2006/relationships" id="273" r:id="Rf789470b892d4d0b"/>
    <p:sldId xmlns:r="http://schemas.openxmlformats.org/officeDocument/2006/relationships" id="274" r:id="R10f64ae961104f51"/>
    <p:sldId xmlns:r="http://schemas.openxmlformats.org/officeDocument/2006/relationships" id="275" r:id="R6bcc42b43ce64e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f2b94e6adf4a6b" /><Relationship Type="http://schemas.openxmlformats.org/officeDocument/2006/relationships/slideMaster" Target="/ppt/slideMasters/slideMaster1.xml" Id="Rabf46b2d5c374409" /><Relationship Type="http://schemas.openxmlformats.org/officeDocument/2006/relationships/notesMaster" Target="/ppt/notesMasters/notesMaster1.xml" Id="Rac7ebf41fe2d4245" /><Relationship Type="http://schemas.openxmlformats.org/officeDocument/2006/relationships/presProps" Target="/ppt/presProps.xml" Id="Raee1cc80ba4a44c3" /><Relationship Type="http://schemas.openxmlformats.org/officeDocument/2006/relationships/tableStyles" Target="/ppt/tableStyles.xml" Id="Rb0f5442169a542b2" /><Relationship Type="http://schemas.openxmlformats.org/officeDocument/2006/relationships/slide" Target="/ppt/slides/slide1.xml" Id="Re716e4c7facf4ae1" /><Relationship Type="http://schemas.openxmlformats.org/officeDocument/2006/relationships/slide" Target="/ppt/slides/slide2.xml" Id="Rd76e36173abb4e17" /><Relationship Type="http://schemas.openxmlformats.org/officeDocument/2006/relationships/slide" Target="/ppt/slides/slide3.xml" Id="Rde78fbefa3c84b47" /><Relationship Type="http://schemas.openxmlformats.org/officeDocument/2006/relationships/slide" Target="/ppt/slides/slide4.xml" Id="R9197c559720e4e4c" /><Relationship Type="http://schemas.openxmlformats.org/officeDocument/2006/relationships/slide" Target="/ppt/slides/slide5.xml" Id="Rba33eb0234ba4d8e" /><Relationship Type="http://schemas.openxmlformats.org/officeDocument/2006/relationships/slide" Target="/ppt/slides/slide6.xml" Id="R16356e86b4d94316" /><Relationship Type="http://schemas.openxmlformats.org/officeDocument/2006/relationships/slide" Target="/ppt/slides/slide7.xml" Id="Ra9af94c262994b85" /><Relationship Type="http://schemas.openxmlformats.org/officeDocument/2006/relationships/slide" Target="/ppt/slides/slide8.xml" Id="R00d939be0a9e4e61" /><Relationship Type="http://schemas.openxmlformats.org/officeDocument/2006/relationships/slide" Target="/ppt/slides/slide9.xml" Id="Re71a1ca276224271" /><Relationship Type="http://schemas.openxmlformats.org/officeDocument/2006/relationships/slide" Target="/ppt/slides/slide10.xml" Id="Rafd3b1c55c46426f" /><Relationship Type="http://schemas.openxmlformats.org/officeDocument/2006/relationships/slide" Target="/ppt/slides/slide11.xml" Id="Rb50bbc88e37e4c2b" /><Relationship Type="http://schemas.openxmlformats.org/officeDocument/2006/relationships/slide" Target="/ppt/slides/slide12.xml" Id="R1a82369a5b4e4bf6" /><Relationship Type="http://schemas.openxmlformats.org/officeDocument/2006/relationships/slide" Target="/ppt/slides/slide13.xml" Id="Red31a3f1a14a42c6" /><Relationship Type="http://schemas.openxmlformats.org/officeDocument/2006/relationships/slide" Target="/ppt/slides/slide14.xml" Id="Refac365c70684684" /><Relationship Type="http://schemas.openxmlformats.org/officeDocument/2006/relationships/slide" Target="/ppt/slides/slide15.xml" Id="R660b94aa3e7a4119" /><Relationship Type="http://schemas.openxmlformats.org/officeDocument/2006/relationships/slide" Target="/ppt/slides/slide16.xml" Id="Ra40f3570c54c4ac8" /><Relationship Type="http://schemas.openxmlformats.org/officeDocument/2006/relationships/slide" Target="/ppt/slides/slide17.xml" Id="Rb92aac9a0bf94650" /><Relationship Type="http://schemas.openxmlformats.org/officeDocument/2006/relationships/slide" Target="/ppt/slides/slide18.xml" Id="Rf789470b892d4d0b" /><Relationship Type="http://schemas.openxmlformats.org/officeDocument/2006/relationships/slide" Target="/ppt/slides/slide19.xml" Id="R10f64ae961104f51" /><Relationship Type="http://schemas.openxmlformats.org/officeDocument/2006/relationships/slide" Target="/ppt/slides/slide20.xml" Id="R6bcc42b43ce64e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feb5cf551c43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69e2ef41ee431b" /><Relationship Type="http://schemas.openxmlformats.org/officeDocument/2006/relationships/notesMaster" Target="/ppt/notesMasters/notesMaster1.xml" Id="R864c4cd6c7724b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47007dd9054d81" /><Relationship Type="http://schemas.openxmlformats.org/officeDocument/2006/relationships/notesMaster" Target="/ppt/notesMasters/notesMaster1.xml" Id="Rf487ed0318ee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6147e971b44353" /><Relationship Type="http://schemas.openxmlformats.org/officeDocument/2006/relationships/notesMaster" Target="/ppt/notesMasters/notesMaster1.xml" Id="Rcc5ee1ab765e4f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df1f8aa97d4c32" /><Relationship Type="http://schemas.openxmlformats.org/officeDocument/2006/relationships/notesMaster" Target="/ppt/notesMasters/notesMaster1.xml" Id="Rba57b522839f45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8613dba7db464d" /><Relationship Type="http://schemas.openxmlformats.org/officeDocument/2006/relationships/notesMaster" Target="/ppt/notesMasters/notesMaster1.xml" Id="R71ae009c3c1c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51c236cf04ba5" /><Relationship Type="http://schemas.openxmlformats.org/officeDocument/2006/relationships/notesMaster" Target="/ppt/notesMasters/notesMaster1.xml" Id="R17414d54b73441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ccc128b5974a98" /><Relationship Type="http://schemas.openxmlformats.org/officeDocument/2006/relationships/notesMaster" Target="/ppt/notesMasters/notesMaster1.xml" Id="Re3ff3707a3824e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f41eb9d36049fb" /><Relationship Type="http://schemas.openxmlformats.org/officeDocument/2006/relationships/notesMaster" Target="/ppt/notesMasters/notesMaster1.xml" Id="Ra0e6757db90542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5f34b014c24379" /><Relationship Type="http://schemas.openxmlformats.org/officeDocument/2006/relationships/notesMaster" Target="/ppt/notesMasters/notesMaster1.xml" Id="R074d7d68afbe4d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e53ed3a82f43eb" /><Relationship Type="http://schemas.openxmlformats.org/officeDocument/2006/relationships/notesMaster" Target="/ppt/notesMasters/notesMaster1.xml" Id="Raff033aebd5747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c9bcf704ec44a1" /><Relationship Type="http://schemas.openxmlformats.org/officeDocument/2006/relationships/notesMaster" Target="/ppt/notesMasters/notesMaster1.xml" Id="Rcd3ede886681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b62ebc99ce4a81" /><Relationship Type="http://schemas.openxmlformats.org/officeDocument/2006/relationships/notesMaster" Target="/ppt/notesMasters/notesMaster1.xml" Id="Rbdcab0961ffe46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f348d867f14cfb" /><Relationship Type="http://schemas.openxmlformats.org/officeDocument/2006/relationships/notesMaster" Target="/ppt/notesMasters/notesMaster1.xml" Id="R69adf243a6214c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2c77f324b34e8f" /><Relationship Type="http://schemas.openxmlformats.org/officeDocument/2006/relationships/notesMaster" Target="/ppt/notesMasters/notesMaster1.xml" Id="R9af9119c58a041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92ceb56612414f" /><Relationship Type="http://schemas.openxmlformats.org/officeDocument/2006/relationships/notesMaster" Target="/ppt/notesMasters/notesMaster1.xml" Id="Rae226157ac264d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e2f6c2f0e54f85" /><Relationship Type="http://schemas.openxmlformats.org/officeDocument/2006/relationships/notesMaster" Target="/ppt/notesMasters/notesMaster1.xml" Id="R784153fe2f1e4d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4bf5fa9a774205" /><Relationship Type="http://schemas.openxmlformats.org/officeDocument/2006/relationships/notesMaster" Target="/ppt/notesMasters/notesMaster1.xml" Id="R1e1d8110f3b340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52c533376a44c8" /><Relationship Type="http://schemas.openxmlformats.org/officeDocument/2006/relationships/notesMaster" Target="/ppt/notesMasters/notesMaster1.xml" Id="R4b3708d5dd0445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328d8ee2a04490" /><Relationship Type="http://schemas.openxmlformats.org/officeDocument/2006/relationships/notesMaster" Target="/ppt/notesMasters/notesMaster1.xml" Id="Rc951d859a3364a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7c3d6e91024270" /><Relationship Type="http://schemas.openxmlformats.org/officeDocument/2006/relationships/notesMaster" Target="/ppt/notesMasters/notesMaster1.xml" Id="R1eb25864994647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5 • Mahima Thorecha • October 2026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Most frequent manufacturer per customer. Unknowns excluded from ranking but retained in share denominator.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Labels shortened for readability. Exact models: Huawei B528S-23A, Apple iPhone 6S (A1688), iPhone 6 (A1586), iPhone 7 (A1778), iPhone Se (A1723).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Application totals also visible in deployed Usage dashboard. 1 GB = 1,000,000,000 bytes.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Notebook text reports 60.36% but calculation output reports 60.37%. Rounded to 60.4% to avoid a false precision conflict. Deciles use original durations and customer-ID tie breaking.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Labels are relative engagement profiles. Original cluster IDs: Low 0, Medium 2, High 1. Elbow inspection also suggests k=4 as a candidate, with no unique sharp elbow.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Percentages are mean replacement percentages per customer in cluster 1, not the share of customers with any replacement.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Reference clusters: engagement 0, experience 1. Euclidean distances. Extreme engagement score 102.277 leads to maximum satisfaction proxy 52.453.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https://tellco-customer-analytics-axvflyxas4ehnbqcuape8f.streamlit.app/</a:t>
            </a:r>
          </a:p>
          <a:p xmlns:a="http://schemas.openxmlformats.org/drawingml/2006/main">
            <a:r>
              <a:t>User confirmed dashboard opens in Incognito on 11 October 2026. Screenshot supplied in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Recommendations are proposed experiments, not observed campaign results or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based on project evidence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This is a case-study recommendation. No valuation, revenue growth or ROI estimate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5 analysis notebook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</a:t>
            </a:r>
          </a:p>
          <a:p xmlns:a="http://schemas.openxmlformats.org/drawingml/2006/main">
            <a:r>
              <a:t>https://github.com/mahimathorecha/tellco-customer-analytics/blob/main/Project%205.ipynb</a:t>
            </a:r>
          </a:p>
          <a:p xmlns:a="http://schemas.openxmlformats.org/drawingml/2006/main">
            <a:r>
              <a:t>https://github.com/mahimathorecha/tellco-customer-analytics</a:t>
            </a:r>
          </a:p>
          <a:p xmlns:a="http://schemas.openxmlformats.org/drawingml/2006/main">
            <a:r>
              <a:t>https://github.com/mahimathorecha/tellco-customer-analytics/tree/main/screenshots</a:t>
            </a:r>
          </a:p>
          <a:p xmlns:a="http://schemas.openxmlformats.org/drawingml/2006/main">
            <a:r>
              <a:t>https://tellco-customer-analytics-axvflyxas4ehnbqcuape8f.streamlit.app/</a:t>
            </a:r>
          </a:p>
          <a:p xmlns:a="http://schemas.openxmlformats.org/drawingml/2006/main">
            <a:r>
              <a:t>Project 5.pdf final submission brief provided by user. Project dataset telcom_data (2).xlsx. Source notebook fetched from GitHub on 11 October 2026. Charts use saved numerical results. Recommendations are analyst interpretations.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123e9227244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704befe1e4d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a318249a643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dd05d343348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c5a46808546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63f8cfc9b42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E9982F-487E-46E2-A543-EE9707F21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6E4763-9B84-41D0-92B1-5C5BFC64EC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1C7A0B-A53F-4131-9D2D-47CCAB1DB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FA9207-6C84-4EAB-8E02-D997A276D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7EAFEA-DC39-46D5-8506-A793597152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5CC17A-6688-4F45-AD2B-BC5499027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7D4E30-AD4C-4132-B152-B944DF355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4C868D-5E89-44D9-94C2-5667F0164A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1FC037-BCCC-49AC-89E3-002EEF134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B06781-3F44-491A-A5A9-7B5A6A74E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010bbbbdc45b5" /><Relationship Type="http://schemas.openxmlformats.org/officeDocument/2006/relationships/slideLayout" Target="/ppt/slideLayouts/slideLayout1.xml" Id="R53ed2a60b4af45f9" /><Relationship Type="http://schemas.openxmlformats.org/officeDocument/2006/relationships/slideLayout" Target="/ppt/slideLayouts/slideLayout2.xml" Id="R8c700e262ae24356" /><Relationship Type="http://schemas.openxmlformats.org/officeDocument/2006/relationships/slideLayout" Target="/ppt/slideLayouts/slideLayout3.xml" Id="Rcb996e4b6c9147d8" /><Relationship Type="http://schemas.openxmlformats.org/officeDocument/2006/relationships/slideLayout" Target="/ppt/slideLayouts/slideLayout4.xml" Id="R03715255ab2b41d4" /><Relationship Type="http://schemas.openxmlformats.org/officeDocument/2006/relationships/slideLayout" Target="/ppt/slideLayouts/slideLayout5.xml" Id="Re33d3d119cdd4798" /><Relationship Type="http://schemas.openxmlformats.org/officeDocument/2006/relationships/slideLayout" Target="/ppt/slideLayouts/slideLayout6.xml" Id="R850c89f89c4a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d2a60b4af45f9"/>
    <p:sldLayoutId xmlns:r="http://schemas.openxmlformats.org/officeDocument/2006/relationships" id="2147483650" r:id="R8c700e262ae24356"/>
    <p:sldLayoutId xmlns:r="http://schemas.openxmlformats.org/officeDocument/2006/relationships" id="2147483651" r:id="Rcb996e4b6c9147d8"/>
    <p:sldLayoutId xmlns:r="http://schemas.openxmlformats.org/officeDocument/2006/relationships" id="2147483652" r:id="R03715255ab2b41d4"/>
    <p:sldLayoutId xmlns:r="http://schemas.openxmlformats.org/officeDocument/2006/relationships" id="2147483653" r:id="Re33d3d119cdd4798"/>
    <p:sldLayoutId xmlns:r="http://schemas.openxmlformats.org/officeDocument/2006/relationships" id="2147483654" r:id="R850c89f89c4a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83b1520a74e6c" /><Relationship Type="http://schemas.openxmlformats.org/officeDocument/2006/relationships/notesSlide" Target="/ppt/notesSlides/notesSlide1.xml" Id="Rd28c890e6be94f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11fe1c9464b3f" /><Relationship Type="http://schemas.openxmlformats.org/officeDocument/2006/relationships/notesSlide" Target="/ppt/notesSlides/notesSlide2.xml" Id="R925b4b01fa1f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e0eef2f334576" /><Relationship Type="http://schemas.openxmlformats.org/officeDocument/2006/relationships/notesSlide" Target="/ppt/notesSlides/notesSlide3.xml" Id="R14b9cdc61621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140a840e44a46" /><Relationship Type="http://schemas.openxmlformats.org/officeDocument/2006/relationships/chart" Target="/ppt/slides/charts/chart1.xml" Id="R5398f3ef5f454d62" /><Relationship Type="http://schemas.openxmlformats.org/officeDocument/2006/relationships/notesSlide" Target="/ppt/notesSlides/notesSlide4.xml" Id="R5473be6e51e9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4bf51da8e43bf" /><Relationship Type="http://schemas.openxmlformats.org/officeDocument/2006/relationships/chart" Target="/ppt/slides/charts/chart2.xml" Id="R9c8afc34336d47e4" /><Relationship Type="http://schemas.openxmlformats.org/officeDocument/2006/relationships/notesSlide" Target="/ppt/notesSlides/notesSlide5.xml" Id="Rc1d247ad0bbc41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f0e937f424e06" /><Relationship Type="http://schemas.openxmlformats.org/officeDocument/2006/relationships/chart" Target="/ppt/slides/charts/chart3.xml" Id="R5cf9969dedca492e" /><Relationship Type="http://schemas.openxmlformats.org/officeDocument/2006/relationships/notesSlide" Target="/ppt/notesSlides/notesSlide6.xml" Id="R14d0365c48eb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9fd5ef2aa455e" /><Relationship Type="http://schemas.openxmlformats.org/officeDocument/2006/relationships/chart" Target="/ppt/slides/charts/chart4.xml" Id="Re562d4da2a91457f" /><Relationship Type="http://schemas.openxmlformats.org/officeDocument/2006/relationships/notesSlide" Target="/ppt/notesSlides/notesSlide7.xml" Id="Rf12546a4c5444c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ccb0ffdd74d8b" /><Relationship Type="http://schemas.openxmlformats.org/officeDocument/2006/relationships/chart" Target="/ppt/slides/charts/chart5.xml" Id="R9ed095701e7a48d5" /><Relationship Type="http://schemas.openxmlformats.org/officeDocument/2006/relationships/notesSlide" Target="/ppt/notesSlides/notesSlide8.xml" Id="Re048917ee11144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0de7a90614a9a" /><Relationship Type="http://schemas.openxmlformats.org/officeDocument/2006/relationships/chart" Target="/ppt/slides/charts/chart6.xml" Id="R509a960d00684e08" /><Relationship Type="http://schemas.openxmlformats.org/officeDocument/2006/relationships/notesSlide" Target="/ppt/notesSlides/notesSlide9.xml" Id="R877f758d6c3f40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c4866c2874796" /><Relationship Type="http://schemas.openxmlformats.org/officeDocument/2006/relationships/chart" Target="/ppt/slides/charts/chart7.xml" Id="Rf43e7e1a4a8c4008" /><Relationship Type="http://schemas.openxmlformats.org/officeDocument/2006/relationships/notesSlide" Target="/ppt/notesSlides/notesSlide10.xml" Id="R817af2c3a62947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d109d85014009" /><Relationship Type="http://schemas.openxmlformats.org/officeDocument/2006/relationships/chart" Target="/ppt/slides/charts/chart8.xml" Id="R9e07d53a22a640b3" /><Relationship Type="http://schemas.openxmlformats.org/officeDocument/2006/relationships/notesSlide" Target="/ppt/notesSlides/notesSlide11.xml" Id="R5403a2ff736b4a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61773e2c849e7" /><Relationship Type="http://schemas.openxmlformats.org/officeDocument/2006/relationships/chart" Target="/ppt/slides/charts/chart9.xml" Id="R1e1537b3dfc94c32" /><Relationship Type="http://schemas.openxmlformats.org/officeDocument/2006/relationships/notesSlide" Target="/ppt/notesSlides/notesSlide12.xml" Id="R05588679b738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d655de5654f99" /><Relationship Type="http://schemas.openxmlformats.org/officeDocument/2006/relationships/notesSlide" Target="/ppt/notesSlides/notesSlide13.xml" Id="Reba14cfbb12b46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a3daa939d4ccd" /><Relationship Type="http://schemas.openxmlformats.org/officeDocument/2006/relationships/chart" Target="/ppt/slides/charts/chart10.xml" Id="R8b48b6962c9746d0" /><Relationship Type="http://schemas.openxmlformats.org/officeDocument/2006/relationships/notesSlide" Target="/ppt/notesSlides/notesSlide14.xml" Id="R5be74831746c47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266a83208434e" /><Relationship Type="http://schemas.openxmlformats.org/officeDocument/2006/relationships/notesSlide" Target="/ppt/notesSlides/notesSlide15.xml" Id="Rab99f3f2d36245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ca1271d1b4450" /><Relationship Type="http://schemas.openxmlformats.org/officeDocument/2006/relationships/image" Target="/ppt/media/image.png" Id="R8760b09fc20f4f37" /><Relationship Type="http://schemas.openxmlformats.org/officeDocument/2006/relationships/notesSlide" Target="/ppt/notesSlides/notesSlide16.xml" Id="R508c676351f242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dd5cb0d784b43" /><Relationship Type="http://schemas.openxmlformats.org/officeDocument/2006/relationships/notesSlide" Target="/ppt/notesSlides/notesSlide17.xml" Id="Rb644ebd3b4c64a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04b38e35b4fdc" /><Relationship Type="http://schemas.openxmlformats.org/officeDocument/2006/relationships/notesSlide" Target="/ppt/notesSlides/notesSlide18.xml" Id="R238353ad0e5e4b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de0ab7864409f" /><Relationship Type="http://schemas.openxmlformats.org/officeDocument/2006/relationships/notesSlide" Target="/ppt/notesSlides/notesSlide19.xml" Id="Rb90aa06aaae14a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d4578dce34add" /><Relationship Type="http://schemas.openxmlformats.org/officeDocument/2006/relationships/notesSlide" Target="/ppt/notesSlides/notesSlide20.xml" Id="R34c24e39694441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Customer share (%)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Data'!$A$2:$A$4</c:f>
              <c:strCache>
                <c:ptCount val="3"/>
                <c:pt idx="0">
                  <c:v>Apple</c:v>
                </c:pt>
                <c:pt idx="1">
                  <c:v>Samsung</c:v>
                </c:pt>
                <c:pt idx="2">
                  <c:v>Huawei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39.86</c:v>
                </c:pt>
                <c:pt idx="1">
                  <c:v>28.81</c:v>
                </c:pt>
                <c:pt idx="2">
                  <c:v>20.3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Customers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Data'!$A$2:$A$6</c:f>
              <c:strCache>
                <c:ptCount val="5"/>
                <c:pt idx="0">
                  <c:v>Huawei B528</c:v>
                </c:pt>
                <c:pt idx="1">
                  <c:v>iPhone 6S</c:v>
                </c:pt>
                <c:pt idx="2">
                  <c:v>iPhone 6</c:v>
                </c:pt>
                <c:pt idx="3">
                  <c:v>iPhone 7</c:v>
                </c:pt>
                <c:pt idx="4">
                  <c:v>iPhone SE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10615</c:v>
                </c:pt>
                <c:pt idx="1">
                  <c:v>6759</c:v>
                </c:pt>
                <c:pt idx="2">
                  <c:v>6260</c:v>
                </c:pt>
                <c:pt idx="3">
                  <c:v>4699</c:v>
                </c:pt>
                <c:pt idx="4">
                  <c:v>3754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Customers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Recorded application volume (GB)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Data'!$A$2:$A$8</c:f>
              <c:strCache>
                <c:ptCount val="7"/>
                <c:pt idx="0">
                  <c:v>Gaming</c:v>
                </c:pt>
                <c:pt idx="1">
                  <c:v>Other</c:v>
                </c:pt>
                <c:pt idx="2">
                  <c:v>YouTube</c:v>
                </c:pt>
                <c:pt idx="3">
                  <c:v>Netflix</c:v>
                </c:pt>
                <c:pt idx="4">
                  <c:v>Google</c:v>
                </c:pt>
                <c:pt idx="5">
                  <c:v>Email</c:v>
                </c:pt>
                <c:pt idx="6">
                  <c:v>Social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64088.9</c:v>
                </c:pt>
                <c:pt idx="1">
                  <c:v>63954.3</c:v>
                </c:pt>
                <c:pt idx="2">
                  <c:v>3372.2</c:v>
                </c:pt>
                <c:pt idx="3">
                  <c:v>3370.1</c:v>
                </c:pt>
                <c:pt idx="4">
                  <c:v>1162.9</c:v>
                </c:pt>
                <c:pt idx="5">
                  <c:v>336.5</c:v>
                </c:pt>
                <c:pt idx="6">
                  <c:v>272.3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Decimal GB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Network data share (%)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Data'!$A$2:$A$6</c:f>
              <c:strCache>
                <c:ptCount val="5"/>
                <c:pt idx="0">
                  <c:v>Decile 6</c:v>
                </c:pt>
                <c:pt idx="1">
                  <c:v>Decile 7</c:v>
                </c:pt>
                <c:pt idx="2">
                  <c:v>Decile 8</c:v>
                </c:pt>
                <c:pt idx="3">
                  <c:v>Decile 9</c:v>
                </c:pt>
                <c:pt idx="4">
                  <c:v>Decile 10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8.7</c:v>
                </c:pt>
                <c:pt idx="1">
                  <c:v>8.33</c:v>
                </c:pt>
                <c:pt idx="2">
                  <c:v>10.6</c:v>
                </c:pt>
                <c:pt idx="3">
                  <c:v>12.6</c:v>
                </c:pt>
                <c:pt idx="4">
                  <c:v>20.13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Total network data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Original Pearson r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Data'!$A$2:$A$5</c:f>
              <c:strCache>
                <c:ptCount val="4"/>
                <c:pt idx="0">
                  <c:v>Gaming</c:v>
                </c:pt>
                <c:pt idx="1">
                  <c:v>YouTube</c:v>
                </c:pt>
                <c:pt idx="2">
                  <c:v>Netflix</c:v>
                </c:pt>
                <c:pt idx="3">
                  <c:v>Google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0.997</c:v>
                </c:pt>
                <c:pt idx="1">
                  <c:v>0.705</c:v>
                </c:pt>
                <c:pt idx="2">
                  <c:v>0.705</c:v>
                </c:pt>
                <c:pt idx="3">
                  <c:v>0.682</c:v>
                </c:pt>
              </c:numCache>
            </c:numRef>
          </c:val>
        </c:ser>
        <c:ser>
          <c:idx val="1"/>
          <c:order val="1"/>
          <c:tx>
            <c:v>After mean replacement</c:v>
          </c:tx>
          <c:spPr>
            <a:solidFill xmlns:a="http://schemas.openxmlformats.org/drawingml/2006/main">
              <a:srgbClr val="008A88"/>
            </a:solidFill>
          </c:spPr>
          <c:cat>
            <c:strRef>
              <c:f>'Chart Data'!$C$2:$C$5</c:f>
              <c:strCache>
                <c:ptCount val="4"/>
                <c:pt idx="0">
                  <c:v>Gaming</c:v>
                </c:pt>
                <c:pt idx="1">
                  <c:v>YouTube</c:v>
                </c:pt>
                <c:pt idx="2">
                  <c:v>Netflix</c:v>
                </c:pt>
                <c:pt idx="3">
                  <c:v>Google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0.985</c:v>
                </c:pt>
                <c:pt idx="1">
                  <c:v>0.417</c:v>
                </c:pt>
                <c:pt idx="2">
                  <c:v>0.418</c:v>
                </c:pt>
                <c:pt idx="3">
                  <c:v>0.391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Correlation with total data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1263D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79850</c:v>
                </c:pt>
                <c:pt idx="1">
                  <c:v>23459</c:v>
                </c:pt>
                <c:pt idx="2">
                  <c:v>3547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Customers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sessions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1.03</c:v>
                </c:pt>
                <c:pt idx="1">
                  <c:v>2.18</c:v>
                </c:pt>
                <c:pt idx="2">
                  <c:v>4.41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Sessions per customer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download throughput (Mbps)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Data'!$A$2:$A$4</c:f>
              <c:strCache>
                <c:ptCount val="3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1.562</c:v>
                </c:pt>
                <c:pt idx="1">
                  <c:v>1.056</c:v>
                </c:pt>
                <c:pt idx="2">
                  <c:v>18.749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Mbps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Cluster 1 mean replacement (%)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Data'!$A$2:$A$5</c:f>
              <c:strCache>
                <c:ptCount val="4"/>
                <c:pt idx="0">
                  <c:v>TCP download</c:v>
                </c:pt>
                <c:pt idx="1">
                  <c:v>TCP upload</c:v>
                </c:pt>
                <c:pt idx="2">
                  <c:v>RTT download</c:v>
                </c:pt>
                <c:pt idx="3">
                  <c:v>RTT upload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90.8</c:v>
                </c:pt>
                <c:pt idx="1">
                  <c:v>95.1</c:v>
                </c:pt>
                <c:pt idx="2">
                  <c:v>87.3</c:v>
                </c:pt>
                <c:pt idx="3">
                  <c:v>79.3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Cluster 1: mean replacement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engagement</c:v>
          </c:tx>
          <c:spPr>
            <a:solidFill xmlns:a="http://schemas.openxmlformats.org/drawingml/2006/main">
              <a:srgbClr val="087FB5"/>
            </a:solidFill>
          </c:spPr>
          <c:cat>
            <c:strRef>
              <c:f>'Chart Data'!$A$2:$A$3</c:f>
              <c:strCache>
                <c:ptCount val="2"/>
                <c:pt idx="0">
                  <c:v>Cluster 0</c:v>
                </c:pt>
                <c:pt idx="1">
                  <c:v>Cluster 1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1.569</c:v>
                </c:pt>
                <c:pt idx="1">
                  <c:v>0.933</c:v>
                </c:pt>
              </c:numCache>
            </c:numRef>
          </c:val>
        </c:ser>
        <c:ser>
          <c:idx val="1"/>
          <c:order val="1"/>
          <c:tx>
            <c:v>Mean experience</c:v>
          </c:tx>
          <c:spPr>
            <a:solidFill xmlns:a="http://schemas.openxmlformats.org/drawingml/2006/main">
              <a:srgbClr val="008A88"/>
            </a:solidFill>
          </c:spPr>
          <c:cat>
            <c:strRef>
              <c:f>'Chart Data'!$C$2:$C$3</c:f>
              <c:strCache>
                <c:ptCount val="2"/>
                <c:pt idx="0">
                  <c:v>Cluster 0</c:v>
                </c:pt>
                <c:pt idx="1">
                  <c:v>Cluster 1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1.064</c:v>
                </c:pt>
                <c:pt idx="1">
                  <c:v>3.436</c:v>
                </c:pt>
              </c:numCache>
            </c:numRef>
          </c:val>
        </c:ser>
        <c:ser>
          <c:idx val="2"/>
          <c:order val="2"/>
          <c:tx>
            <c:v>Mean satisfaction proxy</c:v>
          </c:tx>
          <c:spPr>
            <a:solidFill xmlns:a="http://schemas.openxmlformats.org/drawingml/2006/main">
              <a:srgbClr val="A5B8C8"/>
            </a:solidFill>
          </c:spPr>
          <c:cat>
            <c:strRef>
              <c:f>'Chart Data'!$E$2:$E$3</c:f>
              <c:strCache>
                <c:ptCount val="2"/>
                <c:pt idx="0">
                  <c:v>Cluster 0</c:v>
                </c:pt>
                <c:pt idx="1">
                  <c:v>Cluster 1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1.317</c:v>
                </c:pt>
                <c:pt idx="1">
                  <c:v>2.184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1263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Calculated score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1263D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F72D6-D474-4FA9-B60D-81EC92F7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TellCo Customer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66798-1E6A-41A6-B54A-62619AE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ED0DF"/>
                </a:solidFill>
                <a:latin typeface="DejaVu Sans"/>
                <a:ea typeface="DejaVu Sans"/>
                <a:cs typeface="DejaVu Sans"/>
              </a:rPr>
              <a:t>Project 5 • Mahima Thorecha •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DAB7E-03AE-45E2-BF9C-51E4D17E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ED0D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8DE7F-DC9B-4A6C-A00D-70A17E2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Customer overview, engagement,</a:t>
            </a:r>
          </a:p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network experience and satisfaction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9BAB4-6892-4656-BE6C-0A371474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ED0DF"/>
                </a:solidFill>
                <a:latin typeface="DejaVu Sans"/>
                <a:ea typeface="DejaVu Sans"/>
                <a:cs typeface="DejaVu Sans"/>
              </a:rPr>
              <a:t>Acquisition assessment based on historical telecom records</a:t>
            </a:r>
          </a:p>
        </p:txBody>
      </p:sp>
    </p:spTree>
    <p:extLst>
      <p:ext uri="{BB962C8B-B14F-4D97-AF65-F5344CB8AC3E}">
        <p14:creationId xmlns:p14="http://schemas.microsoft.com/office/powerpoint/2010/main" val="1287898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1C01A-391E-4A7B-9A88-FDBBF957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Decision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2B12C-AB0E-4115-9335-06DFE250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4693A-143B-48A7-A663-A423A41E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2883D-559E-4A79-B5A1-B6D91B9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87FB5"/>
                </a:solidFill>
                <a:latin typeface="DejaVu Sans"/>
                <a:ea typeface="DejaVu Sans"/>
                <a:cs typeface="DejaVu Sans"/>
              </a:rPr>
              <a:t>Positive growth potential,</a:t>
            </a:r>
          </a:p>
          <a:p xmlns:a="http://schemas.openxmlformats.org/drawingml/2006/main">
            <a:pPr>
              <a:defRPr sz="34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087FB5"/>
                </a:solidFill>
                <a:latin typeface="DejaVu Sans"/>
                <a:ea typeface="DejaVu Sans"/>
                <a:cs typeface="DejaVu Sans"/>
              </a:rPr>
              <a:t>subject to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D88A7-D739-40E9-83D4-745E26A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A large low-engagement group offers a testable opportunity to increase 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F2E53-9586-4973-8822-3CACDA8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Network profiles suggest areas for investigation, but mean replacement affects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DF466-BD80-45F3-9118-6AB1FFE9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Recommendation: defer purchase approval until financial and technical due diligence.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FC16B-D5E8-4596-A8A7-149005F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667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The dataset supports operational hypotheses. It cannot establish revenue growth or company value.</a:t>
            </a:r>
          </a:p>
        </p:txBody>
      </p:sp>
    </p:spTree>
    <p:extLst>
      <p:ext uri="{BB962C8B-B14F-4D97-AF65-F5344CB8AC3E}">
        <p14:creationId xmlns:p14="http://schemas.microsoft.com/office/powerpoint/2010/main" val="794235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07E56-F8C5-4A32-882B-AD29EE4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Dataset and analytical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3612E-326D-404B-BAA3-8F2FA89C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C937-D349-44E9-B66A-D3527684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11EA4-4C35-4134-BD87-0C9EEFD6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087FB5"/>
                </a:solidFill>
                <a:latin typeface="DejaVu Sans"/>
                <a:ea typeface="DejaVu Sans"/>
                <a:cs typeface="DejaVu Sans"/>
              </a:rPr>
              <a:t>106,856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2F2D3-7BE8-48A5-8689-F969FD44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identified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75F24-0A54-4E77-8580-1A8FF317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08A8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008A88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008A88"/>
                </a:solidFill>
                <a:latin typeface="DejaVu Sans"/>
                <a:ea typeface="DejaVu Sans"/>
                <a:cs typeface="DejaVu Sans"/>
              </a:rPr>
              <a:t>148,935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16EAE-B9FF-4C18-A5A2-ACE948C6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session records with customer 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3FF0B-F72E-499C-876B-560ADF8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Input: 150,001 rows and 55 columns. Removed 1,066 rows with no customer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6818C-816E-41BB-80E8-5268FA6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Customer usage uses original totals. Network profiles use treated session measurements averaged by customer.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02D16-5FD1-41A2-9994-622A4BD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Historical sample: findings describe this dataset, not the current telecom market.</a:t>
            </a:r>
          </a:p>
        </p:txBody>
      </p:sp>
    </p:spTree>
    <p:extLst>
      <p:ext uri="{BB962C8B-B14F-4D97-AF65-F5344CB8AC3E}">
        <p14:creationId xmlns:p14="http://schemas.microsoft.com/office/powerpoint/2010/main" val="409353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2C6B7-59F4-432F-ACC7-39F8D71F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Three manufacturers represent 88.97% of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0067B-384F-420E-BB36-9C13A34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C0E72-405A-4D2D-8C54-AA4F7E2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D73F555-B0C7-42F2-A897-90519D1971E9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98f3ef5f454d6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D450-29AE-4CA6-B78A-25409AB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Apple: 42,592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8475B-3A91-4D74-B713-E5B51149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Samsung: 30,780 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0B621-950D-418D-9D4E-4A9ED0B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29025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Huawei: 21,692 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9B08C-FB8B-454D-B5D5-65C7A27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Prioritize compatibility testing and support for these devices.</a:t>
            </a:r>
          </a:p>
        </p:txBody>
      </p:sp>
    </p:spTree>
    <p:extLst>
      <p:ext uri="{BB962C8B-B14F-4D97-AF65-F5344CB8AC3E}">
        <p14:creationId xmlns:p14="http://schemas.microsoft.com/office/powerpoint/2010/main" val="1298334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DAAD0-7AA9-4EA7-862F-3BF39A4F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Huawei B528S-23A is the most common device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0FBDE-101D-4F95-833B-BEEC5A1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A0295-3300-49FF-A81B-65CA8116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8754250-C7B2-44A5-8D11-2C58F282C9B7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334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8afc34336d47e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19BA3-F65F-4161-9ACB-AD4738D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10,615 customers use Huawei B528S-23A as their assigned device.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D5E47-6175-4F98-84C6-5F9B69B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Apple contributes six models to the overall top 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D0F2B-58B5-4294-A95A-C06A7E7E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3862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Device-specific offers are hypotheses to test with campaign and revenue data.</a:t>
            </a:r>
          </a:p>
        </p:txBody>
      </p:sp>
    </p:spTree>
    <p:extLst>
      <p:ext uri="{BB962C8B-B14F-4D97-AF65-F5344CB8AC3E}">
        <p14:creationId xmlns:p14="http://schemas.microsoft.com/office/powerpoint/2010/main" val="1506164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CDB5D-6089-4838-A9BB-FDFCECE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Usage is concentrated in Gaming and Other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B33A-A951-434D-8DAB-8A941704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5502B-5207-40B1-BB64-BBE46B2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2CE2FF3-CEC8-4337-B344-35418864CED1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f9969dedca492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2F7B7-04F1-42F4-8B03-2ABF6A47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Total network traffic: 73,833.4 GB. Mean sessions per customer: 1.39.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50392-9345-4633-86A8-8E1C385A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Application totals do not reconcile with network download + upload. These bars are separate recorded volumes, not shares of total network traffic.</a:t>
            </a:r>
          </a:p>
        </p:txBody>
      </p:sp>
    </p:spTree>
    <p:extLst>
      <p:ext uri="{BB962C8B-B14F-4D97-AF65-F5344CB8AC3E}">
        <p14:creationId xmlns:p14="http://schemas.microsoft.com/office/powerpoint/2010/main" val="1979777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EA991-1C24-4D15-98E0-A4FF3D1F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The longest-duration decile contributes 20.13% of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1148A-34A3-491E-B2D5-8D1629B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F6928-02FB-45BF-AD85-E1FC140A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CBDD39E-C037-469D-B291-592B9AB2021C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62d4da2a91457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9C829-8739-4567-B20E-87546CC0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The highest-duration half of customers contributes about 60.4% of network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F67B4-19B4-44FD-8351-F1FDF4FC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Decile 10: 10,686 customers and 14,863.93 GB.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7846A-318D-42E5-BCB5-EEE12365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Usage does not rise at every decile. Duration alone is an incomplete targeting rule.</a:t>
            </a:r>
          </a:p>
        </p:txBody>
      </p:sp>
    </p:spTree>
    <p:extLst>
      <p:ext uri="{BB962C8B-B14F-4D97-AF65-F5344CB8AC3E}">
        <p14:creationId xmlns:p14="http://schemas.microsoft.com/office/powerpoint/2010/main" val="444145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740C1-9C10-4E70-81DE-54AA9BE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Preprocessing changes the measured relationships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2D277-8F53-4D00-9E64-35904100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3E3AC-C81D-4DCC-9483-42CD220C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25B93ED-9EE6-41F4-9C80-82EC0D714465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9612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d095701e7a48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48EE3-348F-466E-B84B-18A49EC2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Replacing flagged values with means reduces variability and creates artificial peaks.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D73F8-2C34-43A9-8B77-FDA703C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PCA on seven treated application variables needs six components to retain 92.02% of variance.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1EA58-FF0F-49BC-95A2-319FDFFD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Correlations describe association and may reflect shared session counts.</a:t>
            </a:r>
          </a:p>
        </p:txBody>
      </p:sp>
    </p:spTree>
    <p:extLst>
      <p:ext uri="{BB962C8B-B14F-4D97-AF65-F5344CB8AC3E}">
        <p14:creationId xmlns:p14="http://schemas.microsoft.com/office/powerpoint/2010/main" val="1978796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79F88-C510-4F6E-91DE-7F892D47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74.73% of customers fall in the low-engagement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2929-E6A1-460A-A5F0-3BD9152E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51289-A402-413F-B638-9366F725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0FFABC9-78A7-4824-9623-A2007DC6A78A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9a960d00684e0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2E0D5-F986-4935-A926-8FFD6FCC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Low: 74.73% of customers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264F3-A46E-4154-8F48-C5F4A258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Medium: 21.95%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476AE-2F94-44C4-A789-8B68936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High: 3.32%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F2B4A-8A04-41DA-8145-B70F911E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K-means uses standardized session count, duration and traffic with k = 3.</a:t>
            </a:r>
          </a:p>
        </p:txBody>
      </p:sp>
    </p:spTree>
    <p:extLst>
      <p:ext uri="{BB962C8B-B14F-4D97-AF65-F5344CB8AC3E}">
        <p14:creationId xmlns:p14="http://schemas.microsoft.com/office/powerpoint/2010/main" val="1532204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0F261-69AD-4F30-99D1-16254920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High engagement means greater usage per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3DAFC-6C14-4F62-831B-30A2B94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B3238-01F8-42B0-B682-451BD3F0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6914389-2CC4-49EC-8F9F-6CB8046ACC04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3e7e1a4a8c400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DFC7C-BB6A-4B66-A4F8-C7682A45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Mean traffic: 0.49 GB, 1.12 GB and 2.29 GB for Low, Medium and High.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5CE85-45E3-4EC0-8997-832DB6D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03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Mean total duration: 28.64, 59.80 and 182.84 hours, respectively.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BD379-A50B-44B6-B0D7-B96A4CEB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The Low group generates the largest combined traffic because it contains more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938BD-D08C-4F89-B8F2-9474D57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Summed session duration does not necessarily measure active screen time.</a:t>
            </a:r>
          </a:p>
        </p:txBody>
      </p:sp>
    </p:spTree>
    <p:extLst>
      <p:ext uri="{BB962C8B-B14F-4D97-AF65-F5344CB8AC3E}">
        <p14:creationId xmlns:p14="http://schemas.microsoft.com/office/powerpoint/2010/main" val="12021378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147AE-B08C-4FC8-B949-C7E29FB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Network clusters show different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368FE-8B63-47B4-9CAA-8AD4A0E5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7AAF8-E052-4595-A1AF-7AD88B3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4CA9C5F-484A-4287-9017-0851C1B7535E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07d53a22a640b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9241F-D5C7-4BDE-80BE-4274FF35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286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0: 45,687 customers. Lowest mean download RTT: 39.011 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3C4EC-6231-4A12-B830-82ACDBB1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3286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1: 26,215 customers. Highest mean download RTT: 102.673 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E6EF0-79D8-44B5-A295-D55F35E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9600"/>
            <a:ext cx="3286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2: 34,954 customers. Highest throughput, with RTT of 69.485 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783FC-20F1-459C-8720-5917401D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Cluster numbers identify groups. No group leads on every network metric.</a:t>
            </a:r>
          </a:p>
        </p:txBody>
      </p:sp>
    </p:spTree>
    <p:extLst>
      <p:ext uri="{BB962C8B-B14F-4D97-AF65-F5344CB8AC3E}">
        <p14:creationId xmlns:p14="http://schemas.microsoft.com/office/powerpoint/2010/main" val="1270216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62FF6-DC50-482A-9B2B-6946F2F5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Heavy mean replacement limits network 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9CD8C-06DB-416B-9A9B-0940061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DE4E2-0054-408B-B458-688CDC8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DF21C1D-FA3C-4F4B-9045-2A3D765294E0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1537b3dfc94c3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5DB13-8975-494A-A16E-420EAD64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Replacement includes missing values and IQR-flagged observations.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D8907-54C4-4A91-89CB-4A00D03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1 depends strongly on substituted measurements.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AF105-3921-441B-A5D9-183F0A0A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Validate raw telemetry and alternative treatments before allocating network investment.</a:t>
            </a:r>
          </a:p>
        </p:txBody>
      </p:sp>
    </p:spTree>
    <p:extLst>
      <p:ext uri="{BB962C8B-B14F-4D97-AF65-F5344CB8AC3E}">
        <p14:creationId xmlns:p14="http://schemas.microsoft.com/office/powerpoint/2010/main" val="2089163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7F682-AD14-42CC-8408-CB5EB15A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Satisfaction is a calculated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9281D-8E6F-4DAC-8ECF-57B5B718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A23E2-A0CA-46DB-B3B8-2DEBB505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FA094-E331-4833-88B8-DA667ECB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B5"/>
                </a:solidFill>
                <a:latin typeface="DejaVu Sans"/>
                <a:ea typeface="DejaVu Sans"/>
                <a:cs typeface="DejaVu Sans"/>
              </a:rPr>
              <a:t>Satisfaction proxy =</a:t>
            </a:r>
          </a:p>
          <a:p xmlns:a="http://schemas.openxmlformats.org/drawingml/2006/main">
            <a:pPr>
              <a:defRPr sz="2850" b="1">
                <a:solidFill>
                  <a:srgbClr val="087FB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B5"/>
                </a:solidFill>
                <a:latin typeface="DejaVu Sans"/>
                <a:ea typeface="DejaVu Sans"/>
                <a:cs typeface="DejaVu Sans"/>
              </a:rPr>
              <a:t>(engagement score + experience score)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CE7C8-EC36-457F-B0EC-5B65173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Engagement score: distance from the least-engaged reference cluster in standardized feature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51F2-93B8-4EAB-BE30-57563D80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Experience score: distance from the selected poorest-experience reference cluster.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FD5D3-D8E5-4129-9FBC-C66F6F9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These scores have no survey scale. Distance can reflect unusual behavior as well as improvement.</a:t>
            </a:r>
          </a:p>
        </p:txBody>
      </p:sp>
    </p:spTree>
    <p:extLst>
      <p:ext uri="{BB962C8B-B14F-4D97-AF65-F5344CB8AC3E}">
        <p14:creationId xmlns:p14="http://schemas.microsoft.com/office/powerpoint/2010/main" val="10716856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6F232-ED06-45EE-8EDB-BD483B7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Score clusters differ mainly in the experience component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9A7FF-4F69-4CCE-A45F-F1C68FAD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4DF1F-5E14-43EF-93DF-FCAA2AE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58FC494-BFA2-4BE7-A15F-E0D0DB569E52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48b6962c9746d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CAFCC-85E1-478B-9237-E7822627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0: 32,682 customers (30.59%).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EEB2E-5089-4BF3-908E-ED97EE5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1: 74,174 customers (69.41%).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9281D-34D3-4176-BBD1-20A276B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81500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Overall mean proxy: 1.919. Higher values do not establish higher reported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281182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E4457-6E2F-450A-B699-0A2D886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Model delivery works, but predictive validity is unproven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375B1-EE6E-47EC-BD33-582D7AE0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B6307-4469-4EB0-AD59-9B64A694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37809-6667-4939-841C-581B2749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Regression: 85,484 training customers and 21,372 test customers. R² = 1.000, with coefficients of 0.5 for both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DF72F-BE7C-4897-BA1B-F096979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This model reconstructs the formula used to create its target. A perfect fit provides no independent evidence about real satisfaction.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2656B-0C75-4214-914E-2486D1F4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Delivery evidence: 106,856 scores exported to MySQL. MLflow logged training and model artifacts. Five local prediction checks passed with HTTP 200.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7F657-FED1-45F0-BAC1-537F13E7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The five requests are a smoke test. Production monitoring and validation against surveys or churn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871878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87D71-B0E9-4970-AD43-733D531C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The dashboard makes all four analyses accessible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42A88-D05E-45A8-8396-FA6D7F0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deployed dashboard and project screenshot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D9FBF-B938-48BC-ACED-99D1FCED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9C296-930F-444D-A2CA-174CE5DA6F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0b09fc20f4f37"/>
          <a:stretch xmlns:a="http://schemas.openxmlformats.org/drawingml/2006/main"/>
        </p:blipFill>
        <p:spPr>
          <a:xfrm xmlns:a="http://schemas.openxmlformats.org/drawingml/2006/main">
            <a:off x="609600" y="1625809"/>
            <a:ext cx="7429500" cy="41778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E77D-5574-4EFC-891A-0872E6E9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Pages: Satisfaction (app), Usage, Engagement and Network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8FC77-0599-4292-A3EB-A0BDF0A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Cluster filters support comparisons and CSV downloads.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7222B-6C66-4A76-B938-B8766163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76750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Public dashboard and repository links appear on the reference slide.</a:t>
            </a:r>
          </a:p>
        </p:txBody>
      </p:sp>
    </p:spTree>
    <p:extLst>
      <p:ext uri="{BB962C8B-B14F-4D97-AF65-F5344CB8AC3E}">
        <p14:creationId xmlns:p14="http://schemas.microsoft.com/office/powerpoint/2010/main" val="3699190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300E2-DA8A-4535-A205-555EF84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Growth potential is positive but conditional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008C1-0915-4EA5-8D7F-08F3F231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CAE69-B731-40FA-830A-E5DAB0F3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69F54-20B7-46DC-89DE-0FBCE57D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Usage growth: test onboarding or relevant bundles with the 79,850 low-engagement customers. Measure incremental usage and margin against a control group.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553AB-1841-4D22-A53A-123B40FC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Service improvement: investigate the low-throughput profiles using raw network telemetry before deciding where upgrades will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A197-AE46-4E9E-86D2-D646DF0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Device support: prioritize Apple, Samsung and Huawei compatibility because they represent 88.97% of identified customers.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F933A-056B-47F5-B89D-57CB775D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Commercial validation: combine these profiles with revenue, retention and service-cost data. The current sample cannot quantify future growth.</a:t>
            </a:r>
          </a:p>
        </p:txBody>
      </p:sp>
    </p:spTree>
    <p:extLst>
      <p:ext uri="{BB962C8B-B14F-4D97-AF65-F5344CB8AC3E}">
        <p14:creationId xmlns:p14="http://schemas.microsoft.com/office/powerpoint/2010/main" val="11677128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EFEC2-1C68-485D-8761-1BD56B4B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Purchase recommendation: defer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970A3-C1AE-41A8-A37E-192035D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ED0DF"/>
                </a:solidFill>
                <a:latin typeface="DejaVu Sans"/>
                <a:ea typeface="DejaVu Sans"/>
                <a:cs typeface="DejaVu Sans"/>
              </a:rPr>
              <a:t>Assessment based on project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BCFC8-D3A3-4D84-802B-10271719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ED0D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ED0DF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BF581-33D0-42E3-8AFD-98594856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Continue due diligence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D9DF4-AA94-486D-965E-089FDCF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The customer base and segmentation offer operational opportunities, but customer counts and traffic do not establish profitability.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025B8-FC52-45F6-AD8B-A995ABFB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Before acquisition: assess revenue and margins, churn, acquisition price, debt, network upgrade costs and regulatory obligations.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23422-C0FA-4AF2-A6E5-7E9712D0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Proceed only if verified economics support the price and technical checks confirm manageable service risks. Otherwise, do not purchase.</a:t>
            </a:r>
          </a:p>
        </p:txBody>
      </p:sp>
    </p:spTree>
    <p:extLst>
      <p:ext uri="{BB962C8B-B14F-4D97-AF65-F5344CB8AC3E}">
        <p14:creationId xmlns:p14="http://schemas.microsoft.com/office/powerpoint/2010/main" val="1904648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519FD-E3B5-4F25-A5FF-D2857A3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Limitations and next validation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B707E-DCB4-4739-A1AD-CB2295F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35DE6-FAB9-451F-A5E8-7C69D7A8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2F7C6-88BD-4262-BF4B-27079B86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Historical scope: the sample and excluded IDs limit generalization. Compare with recent periods and verify customer coverage.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D6CE9-1538-4377-A24E-36C2EFE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Measurement quality: reconcile application volumes, investigate extreme durations and assess alternatives to mean replacement.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752BD-503B-4E88-B2ED-7D4E88E6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Model sensitivity: test robust scaling and alternative cluster counts. Cluster labels and distance scores are not direct quality rankings.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979CC-B54D-4F35-A56F-77D91FCE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Missing outcomes: collect satisfaction surveys, churn and commercial data before treating the proxy as a business outcome.</a:t>
            </a:r>
          </a:p>
        </p:txBody>
      </p:sp>
    </p:spTree>
    <p:extLst>
      <p:ext uri="{BB962C8B-B14F-4D97-AF65-F5344CB8AC3E}">
        <p14:creationId xmlns:p14="http://schemas.microsoft.com/office/powerpoint/2010/main" val="17971030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0A73A-CC49-4D68-B41E-55AF457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References and submission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25DEA-FFB1-46E6-B27A-F5684649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Source: Project 5 analysis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B75F8-4DC3-4E4A-B700-331F93DF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164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6E915-E6CF-4661-A4E9-A45737EC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Analysis notebook: Project 5.ipynb</a:t>
            </a:r>
          </a:p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Repository: github.com/mahimathorecha/tellco-customer-analytics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9D959-9A50-47F8-B35B-2CCEC17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Live dashboard:</a:t>
            </a:r>
          </a:p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tellco-customer-analytics-axvflyxas4ehnbqcuape8f.streamlit.app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E386-FE4F-4296-AE81-F85E75A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Dashboard evidence: screenshots/ folder in the repository</a:t>
            </a:r>
          </a:p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Source data: project telecom dataset and field descriptions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B6957-FB6F-4E0D-BAAC-83EF6F7E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572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Project brief: Project 5.pdf, Final Submission</a:t>
            </a:r>
          </a:p>
          <a:p xmlns:a="http://schemas.openxmlformats.org/drawingml/2006/main">
            <a:pPr>
              <a:def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63D"/>
                </a:solidFill>
                <a:latin typeface="DejaVu Sans"/>
                <a:ea typeface="DejaVu Sans"/>
                <a:cs typeface="DejaVu Sans"/>
              </a:rPr>
              <a:t>Figures summarize saved notebook outputs and the deployed dashboard.</a:t>
            </a:r>
          </a:p>
        </p:txBody>
      </p:sp>
    </p:spTree>
    <p:extLst>
      <p:ext uri="{BB962C8B-B14F-4D97-AF65-F5344CB8AC3E}">
        <p14:creationId xmlns:p14="http://schemas.microsoft.com/office/powerpoint/2010/main" val="395371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2026-10-12T06:10:08.8520000Z</dcterms:created>
  <dcterms:modified xsi:type="dcterms:W3CDTF">2026-10-12T06:10:08.8520000Z</dcterms:modified>
</coreProperties>
</file>